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96d47aff44ab3" /><Relationship Type="http://schemas.openxmlformats.org/officeDocument/2006/relationships/extended-properties" Target="/docProps/app.xml" Id="R49da417907fb4959" /><Relationship Type="http://schemas.openxmlformats.org/officeDocument/2006/relationships/officeDocument" Target="/ppt/presentation.xml" Id="Ra4c1ab96cbff44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5bd2014334888"/>
  </p:sldMasterIdLst>
  <p:notesMasterIdLst>
    <p:notesMasterId xmlns:r="http://schemas.openxmlformats.org/officeDocument/2006/relationships" r:id="Ra56589ff77464aa3"/>
  </p:notesMasterIdLst>
  <p:sldIdLst>
    <p:sldId xmlns:r="http://schemas.openxmlformats.org/officeDocument/2006/relationships" id="256" r:id="R0158375b8785402a"/>
    <p:sldId xmlns:r="http://schemas.openxmlformats.org/officeDocument/2006/relationships" id="257" r:id="R1b94bb27564e4577"/>
    <p:sldId xmlns:r="http://schemas.openxmlformats.org/officeDocument/2006/relationships" id="258" r:id="R5debc6bd2e094f21"/>
    <p:sldId xmlns:r="http://schemas.openxmlformats.org/officeDocument/2006/relationships" id="259" r:id="R8dd1a7fc899f49b4"/>
    <p:sldId xmlns:r="http://schemas.openxmlformats.org/officeDocument/2006/relationships" id="260" r:id="Red61b106c640442f"/>
    <p:sldId xmlns:r="http://schemas.openxmlformats.org/officeDocument/2006/relationships" id="261" r:id="R18a2414fd8734267"/>
    <p:sldId xmlns:r="http://schemas.openxmlformats.org/officeDocument/2006/relationships" id="262" r:id="R19cee1de681a4a18"/>
    <p:sldId xmlns:r="http://schemas.openxmlformats.org/officeDocument/2006/relationships" id="263" r:id="R49f27990a4d74902"/>
    <p:sldId xmlns:r="http://schemas.openxmlformats.org/officeDocument/2006/relationships" id="264" r:id="R8798634228fb4406"/>
    <p:sldId xmlns:r="http://schemas.openxmlformats.org/officeDocument/2006/relationships" id="265" r:id="R76e7a8f4c8a949f2"/>
    <p:sldId xmlns:r="http://schemas.openxmlformats.org/officeDocument/2006/relationships" id="266" r:id="R478741e38dcf47c2"/>
    <p:sldId xmlns:r="http://schemas.openxmlformats.org/officeDocument/2006/relationships" id="267" r:id="R9a5a7ffb2ebf4289"/>
    <p:sldId xmlns:r="http://schemas.openxmlformats.org/officeDocument/2006/relationships" id="268" r:id="R7a0c2841511a4922"/>
    <p:sldId xmlns:r="http://schemas.openxmlformats.org/officeDocument/2006/relationships" id="269" r:id="R9f10946719c64b76"/>
    <p:sldId xmlns:r="http://schemas.openxmlformats.org/officeDocument/2006/relationships" id="270" r:id="Rd489a37c81c445c7"/>
    <p:sldId xmlns:r="http://schemas.openxmlformats.org/officeDocument/2006/relationships" id="271" r:id="R07c29660c335409a"/>
    <p:sldId xmlns:r="http://schemas.openxmlformats.org/officeDocument/2006/relationships" id="272" r:id="Rd817f553bf4d4ae3"/>
    <p:sldId xmlns:r="http://schemas.openxmlformats.org/officeDocument/2006/relationships" id="273" r:id="Ra4706ed265b24e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30342c13c54517" /><Relationship Type="http://schemas.openxmlformats.org/officeDocument/2006/relationships/slideMaster" Target="/ppt/slideMasters/slideMaster1.xml" Id="R65e5bd2014334888" /><Relationship Type="http://schemas.openxmlformats.org/officeDocument/2006/relationships/notesMaster" Target="/ppt/notesMasters/notesMaster1.xml" Id="Ra56589ff77464aa3" /><Relationship Type="http://schemas.openxmlformats.org/officeDocument/2006/relationships/presProps" Target="/ppt/presProps.xml" Id="Rf6c25162253e4b68" /><Relationship Type="http://schemas.openxmlformats.org/officeDocument/2006/relationships/tableStyles" Target="/ppt/tableStyles.xml" Id="R50e85480ef414a78" /><Relationship Type="http://schemas.openxmlformats.org/officeDocument/2006/relationships/slide" Target="/ppt/slides/slide1.xml" Id="R0158375b8785402a" /><Relationship Type="http://schemas.openxmlformats.org/officeDocument/2006/relationships/slide" Target="/ppt/slides/slide2.xml" Id="R1b94bb27564e4577" /><Relationship Type="http://schemas.openxmlformats.org/officeDocument/2006/relationships/slide" Target="/ppt/slides/slide3.xml" Id="R5debc6bd2e094f21" /><Relationship Type="http://schemas.openxmlformats.org/officeDocument/2006/relationships/slide" Target="/ppt/slides/slide4.xml" Id="R8dd1a7fc899f49b4" /><Relationship Type="http://schemas.openxmlformats.org/officeDocument/2006/relationships/slide" Target="/ppt/slides/slide5.xml" Id="Red61b106c640442f" /><Relationship Type="http://schemas.openxmlformats.org/officeDocument/2006/relationships/slide" Target="/ppt/slides/slide6.xml" Id="R18a2414fd8734267" /><Relationship Type="http://schemas.openxmlformats.org/officeDocument/2006/relationships/slide" Target="/ppt/slides/slide7.xml" Id="R19cee1de681a4a18" /><Relationship Type="http://schemas.openxmlformats.org/officeDocument/2006/relationships/slide" Target="/ppt/slides/slide8.xml" Id="R49f27990a4d74902" /><Relationship Type="http://schemas.openxmlformats.org/officeDocument/2006/relationships/slide" Target="/ppt/slides/slide9.xml" Id="R8798634228fb4406" /><Relationship Type="http://schemas.openxmlformats.org/officeDocument/2006/relationships/slide" Target="/ppt/slides/slide10.xml" Id="R76e7a8f4c8a949f2" /><Relationship Type="http://schemas.openxmlformats.org/officeDocument/2006/relationships/slide" Target="/ppt/slides/slide11.xml" Id="R478741e38dcf47c2" /><Relationship Type="http://schemas.openxmlformats.org/officeDocument/2006/relationships/slide" Target="/ppt/slides/slide12.xml" Id="R9a5a7ffb2ebf4289" /><Relationship Type="http://schemas.openxmlformats.org/officeDocument/2006/relationships/slide" Target="/ppt/slides/slide13.xml" Id="R7a0c2841511a4922" /><Relationship Type="http://schemas.openxmlformats.org/officeDocument/2006/relationships/slide" Target="/ppt/slides/slide14.xml" Id="R9f10946719c64b76" /><Relationship Type="http://schemas.openxmlformats.org/officeDocument/2006/relationships/slide" Target="/ppt/slides/slide15.xml" Id="Rd489a37c81c445c7" /><Relationship Type="http://schemas.openxmlformats.org/officeDocument/2006/relationships/slide" Target="/ppt/slides/slide16.xml" Id="R07c29660c335409a" /><Relationship Type="http://schemas.openxmlformats.org/officeDocument/2006/relationships/slide" Target="/ppt/slides/slide17.xml" Id="Rd817f553bf4d4ae3" /><Relationship Type="http://schemas.openxmlformats.org/officeDocument/2006/relationships/slide" Target="/ppt/slides/slide18.xml" Id="Ra4706ed265b24e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fd549606141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2c417fe9d4c93" /><Relationship Type="http://schemas.openxmlformats.org/officeDocument/2006/relationships/notesMaster" Target="/ppt/notesMasters/notesMaster1.xml" Id="R533698945191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5fd2fb3e234e8c" /><Relationship Type="http://schemas.openxmlformats.org/officeDocument/2006/relationships/notesMaster" Target="/ppt/notesMasters/notesMaster1.xml" Id="Rc984489b6fcb4e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5c16b9a454441" /><Relationship Type="http://schemas.openxmlformats.org/officeDocument/2006/relationships/notesMaster" Target="/ppt/notesMasters/notesMaster1.xml" Id="R9b06249e0b254c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d23b4c07144273" /><Relationship Type="http://schemas.openxmlformats.org/officeDocument/2006/relationships/notesMaster" Target="/ppt/notesMasters/notesMaster1.xml" Id="R1c2ed882698541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37f43b8a1a45dc" /><Relationship Type="http://schemas.openxmlformats.org/officeDocument/2006/relationships/notesMaster" Target="/ppt/notesMasters/notesMaster1.xml" Id="R967c5a38d54741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0b3d4213c4997" /><Relationship Type="http://schemas.openxmlformats.org/officeDocument/2006/relationships/notesMaster" Target="/ppt/notesMasters/notesMaster1.xml" Id="R6934e85edc2a4b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33245a72184358" /><Relationship Type="http://schemas.openxmlformats.org/officeDocument/2006/relationships/notesMaster" Target="/ppt/notesMasters/notesMaster1.xml" Id="R3830d753933a46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a21b67f9524949" /><Relationship Type="http://schemas.openxmlformats.org/officeDocument/2006/relationships/notesMaster" Target="/ppt/notesMasters/notesMaster1.xml" Id="R5d7c59c8ab0d4f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ed0edd214246e0" /><Relationship Type="http://schemas.openxmlformats.org/officeDocument/2006/relationships/notesMaster" Target="/ppt/notesMasters/notesMaster1.xml" Id="Rc0c61ca42ba747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7addd6f04a4d3d" /><Relationship Type="http://schemas.openxmlformats.org/officeDocument/2006/relationships/notesMaster" Target="/ppt/notesMasters/notesMaster1.xml" Id="Rd7f9448839864e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515b1e5b664cfd" /><Relationship Type="http://schemas.openxmlformats.org/officeDocument/2006/relationships/notesMaster" Target="/ppt/notesMasters/notesMaster1.xml" Id="R29fbb1d851c94a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e4284e694b4fcf" /><Relationship Type="http://schemas.openxmlformats.org/officeDocument/2006/relationships/notesMaster" Target="/ppt/notesMasters/notesMaster1.xml" Id="R79e28687aed74b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f88413bedf462b" /><Relationship Type="http://schemas.openxmlformats.org/officeDocument/2006/relationships/notesMaster" Target="/ppt/notesMasters/notesMaster1.xml" Id="Re7dff5836e8a4f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90460296434ea3" /><Relationship Type="http://schemas.openxmlformats.org/officeDocument/2006/relationships/notesMaster" Target="/ppt/notesMasters/notesMaster1.xml" Id="R1c1840511f9c40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bc48da96634e24" /><Relationship Type="http://schemas.openxmlformats.org/officeDocument/2006/relationships/notesMaster" Target="/ppt/notesMasters/notesMaster1.xml" Id="R4b200f3a14ec4f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e6149edce44b13" /><Relationship Type="http://schemas.openxmlformats.org/officeDocument/2006/relationships/notesMaster" Target="/ppt/notesMasters/notesMaster1.xml" Id="Rf0b5b52856d44f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f0f16b280d44ce" /><Relationship Type="http://schemas.openxmlformats.org/officeDocument/2006/relationships/notesMaster" Target="/ppt/notesMasters/notesMaster1.xml" Id="R6444d2fd311c4e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0f5f9a54b34586" /><Relationship Type="http://schemas.openxmlformats.org/officeDocument/2006/relationships/notesMaster" Target="/ppt/notesMasters/notesMaster1.xml" Id="R037a32d86125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attacker has reached the cloud secret. Now the platform administrator investigates the evidence and contains the compromised pod.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investigation starts with a routine CloudTrail review. Unexpected role activity gives the administrator a lead to investigate.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This episode demonstrates manual investigation. It does not demonstrate an automated alert. Role assumption is a normal IRSA operation and requires context before classifying it as malicious.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Four recent sessions use the same workload identity. The administrator checks whether their activity fits the application's expected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[CloudTrail event list](img/platform_admin/webid_event.png)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The screenshot also includes two earlier sessions. The investigation focuses on the four calls between 00:10:36 and 00:14:24 UTC on October 19. Frequency alone does not confirm compromise.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CloudTrail identity points to the react2shell service account in the react namespace and its associated IAM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**Evidence:** Readable identity excerpt from the source guide's full event summary. No raw token or session credentials appear on the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source IP matches the cluster's NAT gateway. The administrator still needs workload and log evidence to identify the pod.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[NAT gateway lookup](img/platform_admin/webid_ip_check.png)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Session-key lookups reveal secret discovery and two reads of the same lab credential, within a three-minute, forty-nine-second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**Evidence:** Readable table from the source guide's session lookups. The final ListSecrets call occurs at 00:14:25 UTC; its role session starts at 00:14:24.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administrator finds the pod using this service account, then compares its timestamped logs with the AWS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**Evidence:** Readable excerpt from the source guide's pod lookup.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Matching session keys and timestamps connect the cloud calls to the pod. Its error output also contains the lab secret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[Timestamped pod logs](img/platform_admin/react_pod_logs02.png)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HTTP 500 responses alone do not prove exploitation. In this lab, the correlated command output and secret value establish the link. The RDS credential is synthetic. A database login is not demonstrated.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CloudTrail and pod logs corroborate the breach. The administrator now limits the pod's access while preserving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administrator pauses automatic sync and checks the Application hierarchy so GitOps does not undo the containment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[Argo CD containment step](img/platform_admin/containment_disable_argocd.png)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The screenshot records the root Application setting. The guide also includes a parent-and-child check. This step pauses automated sync; it does not prevent every manual or external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administrator saves logs, workload details, events, and token claims before making changes that could disrupt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Token claims provide identity metadata. Keep evidence access restricted because logs contain the disclosed lab credential. Live collection changes some system state and is not a complete forensic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Relabeling removes the original pod from the Service's selected backends. The lab shows a replacement while retaining the original pod.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Readable pod-list excerpt: original pod is Running with app=quarantined; replacement is Running with app=react2shell.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Confirm Service EndpointSlices and replacement readiness during a real response. A replacement running the same vulnerable image still needs remediation. Removing a Service selector match does not block direct pod access or guarantee immediate termination of existing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administrator applies the quarantine policy and tests connectivity. The recorded request to regional STS times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Readable NetworkPolicy and test-result excerpts from the source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NetworkPolicies are additive and require a supporting network plugin. Check all policies selecting the pod. The source records an STS egress test, not exhaustive ingress, Secrets Manager, or existing-connection verification. Source: https://kubernetes.io/docs/concepts/services-networking/network-policies/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administrator prevents ordinary new scheduling on the hosting node and requests an autoscaler exclusion while investigation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Cordon does not prove the node is compromised, isolate its network, or guarantee protection from all eviction and termination paths. It leaves existing pods running. Source: https://kubernetes.io/docs/concepts/architecture/nodes/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Quarantining the pod limits that access path. Cloud owners must separately address the disclosed secret and any remaining credential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The guide marks these actions as requiring elevated permissions. Their completion is not demonstrated. Check session expiry at response time rather than assuming the original sessions remain active. Source: https://docs.aws.amazon.com/IAM/latest/UserGuide/id_roles_use_revoke-sessions.html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report separates confirmed findings, completed containment, and pending cloud actions so the next owner can act on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**Presenter note:** Keep exact attack timestamps in UTC. The guide mixes local-time screenshots and differing detection/containment timestamps, so this draft does not assert a precise detection or containment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The investigation connects cloud activity to the application, preserves evidence, and quarantines the pod. Credential cleanup remains a separate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CAPTION</a:t>
            </a:r>
          </a:p>
          <a:p xmlns:a="http://schemas.openxmlformats.org/drawingml/2006/main">
            <a:r>
              <a:t>Next, we harden the cloud, cluster, container, and code layers, then replay the attack to test the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</a:t>
            </a:r>
          </a:p>
          <a:p xmlns:a="http://schemas.openxmlformats.org/drawingml/2006/main">
            <a:r>
              <a:t>C:/Users/simon/OneDrive/Tech/Github/react2shell-eks/docs/post02_incident_response.md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COPY</a:t>
            </a:r>
          </a:p>
          <a:p xmlns:a="http://schemas.openxmlformats.org/drawingml/2006/main">
            <a:r>
              <a:t>C:/Users/simon/OneDrive/Tech/Github/react2shell-eks/docs/post02_incident_response_slide.md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activity and screenshots refer to the supplied controlled lab. No cloud or cluster commands were executed while creating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6e111ddce43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1f631bafd47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bd5ecbc484b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67d917a644f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02c878f6e48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377026339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FE8009-9DAC-4268-AFC5-5D38A612A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662E55-69AA-4303-90B7-644F33ABB0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05C32B-4DFC-47A3-B0E2-B343079CA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67CEDF-34D1-4ADE-9A19-EB7449A50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BB902F-17C0-44D3-93EF-F8D54F5BE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D57548-4C1D-4988-9C34-B1C62F02E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DCA856-8663-4FE5-9398-2176F2CB12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EBE01F-2836-4A22-87D4-5CD1C283F6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E0173C-9E19-4C46-A476-7BA5CC8FE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244497-43CE-473C-9630-4F998F22EB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aacfbdf499400c" /><Relationship Type="http://schemas.openxmlformats.org/officeDocument/2006/relationships/slideLayout" Target="/ppt/slideLayouts/slideLayout1.xml" Id="Ra5224de4ff7a483b" /><Relationship Type="http://schemas.openxmlformats.org/officeDocument/2006/relationships/slideLayout" Target="/ppt/slideLayouts/slideLayout2.xml" Id="Reded3c7c0c534403" /><Relationship Type="http://schemas.openxmlformats.org/officeDocument/2006/relationships/slideLayout" Target="/ppt/slideLayouts/slideLayout3.xml" Id="R781e1b051d1f4a54" /><Relationship Type="http://schemas.openxmlformats.org/officeDocument/2006/relationships/slideLayout" Target="/ppt/slideLayouts/slideLayout4.xml" Id="R52aae9c43ece40c9" /><Relationship Type="http://schemas.openxmlformats.org/officeDocument/2006/relationships/slideLayout" Target="/ppt/slideLayouts/slideLayout5.xml" Id="R371049f5faa9408b" /><Relationship Type="http://schemas.openxmlformats.org/officeDocument/2006/relationships/slideLayout" Target="/ppt/slideLayouts/slideLayout6.xml" Id="R66b9478e896c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24de4ff7a483b"/>
    <p:sldLayoutId xmlns:r="http://schemas.openxmlformats.org/officeDocument/2006/relationships" id="2147483650" r:id="Reded3c7c0c534403"/>
    <p:sldLayoutId xmlns:r="http://schemas.openxmlformats.org/officeDocument/2006/relationships" id="2147483651" r:id="R781e1b051d1f4a54"/>
    <p:sldLayoutId xmlns:r="http://schemas.openxmlformats.org/officeDocument/2006/relationships" id="2147483652" r:id="R52aae9c43ece40c9"/>
    <p:sldLayoutId xmlns:r="http://schemas.openxmlformats.org/officeDocument/2006/relationships" id="2147483653" r:id="R371049f5faa9408b"/>
    <p:sldLayoutId xmlns:r="http://schemas.openxmlformats.org/officeDocument/2006/relationships" id="2147483654" r:id="R66b9478e896c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b4b240c7c417b" /><Relationship Type="http://schemas.openxmlformats.org/officeDocument/2006/relationships/notesSlide" Target="/ppt/notesSlides/notesSlide1.xml" Id="R7d4fb40ee1d942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b3666f53f468c" /><Relationship Type="http://schemas.openxmlformats.org/officeDocument/2006/relationships/notesSlide" Target="/ppt/notesSlides/notesSlide2.xml" Id="R2401923d0df3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c0f3aede54f06" /><Relationship Type="http://schemas.openxmlformats.org/officeDocument/2006/relationships/image" Target="/ppt/media/image.png" Id="R6f3795304ec643ad" /><Relationship Type="http://schemas.openxmlformats.org/officeDocument/2006/relationships/notesSlide" Target="/ppt/notesSlides/notesSlide3.xml" Id="Re1977107c6da4d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18f7145c245a2" /><Relationship Type="http://schemas.openxmlformats.org/officeDocument/2006/relationships/notesSlide" Target="/ppt/notesSlides/notesSlide4.xml" Id="Ra96b8f0c2f51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706085bf74986" /><Relationship Type="http://schemas.openxmlformats.org/officeDocument/2006/relationships/image" Target="/ppt/media/image2.png" Id="Rcc0524dfd58a4dd4" /><Relationship Type="http://schemas.openxmlformats.org/officeDocument/2006/relationships/notesSlide" Target="/ppt/notesSlides/notesSlide5.xml" Id="R34345de2322a43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53793ca054370" /><Relationship Type="http://schemas.openxmlformats.org/officeDocument/2006/relationships/notesSlide" Target="/ppt/notesSlides/notesSlide6.xml" Id="Rfd7dc63091d64e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eb0b2c9e943c6" /><Relationship Type="http://schemas.openxmlformats.org/officeDocument/2006/relationships/notesSlide" Target="/ppt/notesSlides/notesSlide7.xml" Id="Rc314a93086c44f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6c97dcfe84c6a" /><Relationship Type="http://schemas.openxmlformats.org/officeDocument/2006/relationships/image" Target="/ppt/media/image3.png" Id="R319e5a91e9354dca" /><Relationship Type="http://schemas.openxmlformats.org/officeDocument/2006/relationships/notesSlide" Target="/ppt/notesSlides/notesSlide8.xml" Id="Re8487f35a6b5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99ad156344521" /><Relationship Type="http://schemas.openxmlformats.org/officeDocument/2006/relationships/notesSlide" Target="/ppt/notesSlides/notesSlide9.xml" Id="R41395932dbdc46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e8639475548ed" /><Relationship Type="http://schemas.openxmlformats.org/officeDocument/2006/relationships/image" Target="/ppt/media/image4.png" Id="Ra6857ddb6bfd4b35" /><Relationship Type="http://schemas.openxmlformats.org/officeDocument/2006/relationships/notesSlide" Target="/ppt/notesSlides/notesSlide10.xml" Id="R797b8907df8a4a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0b6da4b704aa4" /><Relationship Type="http://schemas.openxmlformats.org/officeDocument/2006/relationships/notesSlide" Target="/ppt/notesSlides/notesSlide11.xml" Id="R578eb53f09a643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12e8752bf460d" /><Relationship Type="http://schemas.openxmlformats.org/officeDocument/2006/relationships/notesSlide" Target="/ppt/notesSlides/notesSlide12.xml" Id="Ra6e78b5515c246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fbc0b3dbe4767" /><Relationship Type="http://schemas.openxmlformats.org/officeDocument/2006/relationships/notesSlide" Target="/ppt/notesSlides/notesSlide13.xml" Id="R4c5ed581724744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a46cc89294368" /><Relationship Type="http://schemas.openxmlformats.org/officeDocument/2006/relationships/notesSlide" Target="/ppt/notesSlides/notesSlide14.xml" Id="Rad425dd18e9845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042f798e34639" /><Relationship Type="http://schemas.openxmlformats.org/officeDocument/2006/relationships/notesSlide" Target="/ppt/notesSlides/notesSlide15.xml" Id="Rfb53fb99bfb545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a6ab406ac44f8" /><Relationship Type="http://schemas.openxmlformats.org/officeDocument/2006/relationships/notesSlide" Target="/ppt/notesSlides/notesSlide16.xml" Id="R428069127abd4f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0be1628af4f17" /><Relationship Type="http://schemas.openxmlformats.org/officeDocument/2006/relationships/notesSlide" Target="/ppt/notesSlides/notesSlide17.xml" Id="Rb8748c4d9cd945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ab40113344482" /><Relationship Type="http://schemas.openxmlformats.org/officeDocument/2006/relationships/notesSlide" Target="/ppt/notesSlides/notesSlide18.xml" Id="Rf6985c6def454f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28C194-707C-4EAE-950E-CB8BD84A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6C9F1"/>
                </a:solidFill>
                <a:latin typeface="Arial"/>
                <a:ea typeface="Arial"/>
                <a:cs typeface="Arial"/>
              </a:rPr>
              <a:t>PART 2 / PLATFORM ADMINISTRATOR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7107CF-2668-4A86-BE83-A60D04D4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Incident Response on Amazon EKS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542871-51AB-44DE-B80D-03ADE78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secrets are exposed. What happens next?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07AD3D-5302-48F0-BE29-FFF9C091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6C9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6C9F1"/>
                </a:solidFill>
                <a:latin typeface="Arial"/>
                <a:ea typeface="Arial"/>
                <a:cs typeface="Arial"/>
              </a:rPr>
              <a:t>React2Shell lab / Part 2</a:t>
            </a:r>
          </a:p>
        </p:txBody>
      </p: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BA7F08C8-774E-4CDC-9B06-3C13D036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attacker has reached the cloud secret. Now the platform administrator investigates the evidence and contains the compromised pod.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E170CC-4B37-4C10-9B9F-5DC6B603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873725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12CA51-42A7-4225-892F-F3BE4F2C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Administrator's Starting Point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AD3996-6172-4209-B363-640736EE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Routine CloudTrail review reveals unexpected role activity.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Which workload made the calls?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What did it access?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FC8E3992-174B-45C9-994D-6726CFF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investigation starts with a routine CloudTrail review. Unexpected role activity gives the administrator a lead to investigate.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2B9AB6-9EEC-4C50-BE4A-AE572328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122726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725F4F-8B05-42B3-843C-740A94FB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Four Recent Role Sessions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67947-D479-43B0-AFA0-ED0790413F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795304ec643ad"/>
          <a:stretch xmlns:a="http://schemas.openxmlformats.org/drawingml/2006/main"/>
        </p:blipFill>
        <p:spPr>
          <a:xfrm xmlns:a="http://schemas.openxmlformats.org/drawingml/2006/main">
            <a:off x="2376964" y="1571625"/>
            <a:ext cx="7438073" cy="2714625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986D54A-5089-4CC0-B64D-300009D6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4F7FA"/>
                </a:solidFill>
                <a:latin typeface="Arial"/>
                <a:ea typeface="Arial"/>
                <a:cs typeface="Arial"/>
              </a:rPr>
              <a:t>Event: AssumeRoleWithWebIdentity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4F7FA"/>
                </a:solidFill>
                <a:latin typeface="Arial"/>
                <a:ea typeface="Arial"/>
                <a:cs typeface="Arial"/>
              </a:rPr>
              <a:t>Four sessions within four minutes.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4F7FA"/>
                </a:solidFill>
                <a:latin typeface="Arial"/>
                <a:ea typeface="Arial"/>
                <a:cs typeface="Arial"/>
              </a:rPr>
              <a:t>Same workload identity.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1ACFA20F-8A5F-43E4-9094-4EF37934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Four recent sessions use the same workload identity. The administrator checks whether their activity fits the application's expected behavior.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1D31A4-761F-45F7-9554-F95E192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942054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71D7BD-B7A2-4731-A103-7197B281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Workload Identity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A1D332D-7D6A-4D17-8144-99A830A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C9F1"/>
                </a:solidFill>
                <a:latin typeface="Arial"/>
                <a:ea typeface="Arial"/>
                <a:cs typeface="Arial"/>
              </a:rPr>
              <a:t>Namespace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662930D-3CC9-4152-BABD-55A890B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7A4A9F4-B9C1-4D99-8EEC-AE8E0902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C9F1"/>
                </a:solidFill>
                <a:latin typeface="Arial"/>
                <a:ea typeface="Arial"/>
                <a:cs typeface="Arial"/>
              </a:rPr>
              <a:t>Service account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8A9755-357D-4CE4-A4C8-20D6C640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react2shell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456931-D796-4A46-8A22-1DBBEB9B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6C9F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C9F1"/>
                </a:solidFill>
                <a:latin typeface="Arial"/>
                <a:ea typeface="Arial"/>
                <a:cs typeface="Arial"/>
              </a:rPr>
              <a:t>IAM role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38C57B-BFBF-49AC-BBFC-1CD107A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4337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react2shell-eks-insecure-pod-irsa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99DD967-05FD-4AFB-B577-BA58943C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CloudTrail identity points to the react2shell service account in the react namespace and its associated IAM role.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D15B05-6437-4D12-83C6-A715F41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1233294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DE3C7-E4E9-49FD-85E6-3187C1C4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Source IP Matches Cluster Egress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C1105-DF0C-404F-9D7C-9EFB7042DE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524dfd58a4dd4"/>
          <a:stretch xmlns:a="http://schemas.openxmlformats.org/drawingml/2006/main"/>
        </p:blipFill>
        <p:spPr>
          <a:xfrm xmlns:a="http://schemas.openxmlformats.org/drawingml/2006/main">
            <a:off x="609600" y="1998427"/>
            <a:ext cx="10972800" cy="167052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BB82C4D-F325-454E-9148-3EAD27F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4F7FA"/>
                </a:solidFill>
                <a:latin typeface="Arial"/>
                <a:ea typeface="Arial"/>
                <a:cs typeface="Arial"/>
              </a:rPr>
              <a:t>Source IP: 16.54.55.36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4F7FA"/>
                </a:solidFill>
                <a:latin typeface="Arial"/>
                <a:ea typeface="Arial"/>
                <a:cs typeface="Arial"/>
              </a:rPr>
              <a:t>Matches the EKS environment's NAT gateway.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10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shared IP alone cannot identify a pod.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D7D2E0AD-1398-4B20-850A-DBBA23C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source IP matches the cluster's NAT gateway. The administrator still needs workload and log evidence to identify the pod.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138B26-85F9-4899-89A4-940EC49E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1206792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6FD499-6B50-4B78-B61B-95680CE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What the Sessions Accessed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63D672-5DBA-4DC8-8A17-4F1F1EC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2026-10-19 / UTC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1CD0E-E1B8-4565-9D30-139F83036C24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333750"/>
                <a:gridCol w="5448300"/>
              </a:tblGrid>
              <a:tr h="552450">
                <a:tc>
                  <a:txBody>
                    <a:bodyPr lIns="133350" tIns="133350" rIns="133350" bIns="133350"/>
                    <a:lstStyle/>
                    <a:p>
                      <a:r>
                        <a:rPr sz="2100" b="1">
                          <a:solidFill>
                            <a:srgbClr val="76C9F1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>
                      <a:solidFill>
                        <a:srgbClr val="354456"/>
                      </a:solidFill>
                      <a:prstDash val="soli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83A4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1">
                          <a:solidFill>
                            <a:srgbClr val="76C9F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T w="9525">
                      <a:solidFill>
                        <a:srgbClr val="354456"/>
                      </a:solidFill>
                      <a:prstDash val="soli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83A4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1">
                          <a:solidFill>
                            <a:srgbClr val="76C9F1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T w="9525">
                      <a:solidFill>
                        <a:srgbClr val="354456"/>
                      </a:solidFill>
                      <a:prstDash val="soli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83A4B"/>
                    </a:solidFill>
                  </a:tcPr>
                </a:tc>
              </a:tr>
              <a:tr h="552450"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00:10:36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ListSecrets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Secret 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</a:tr>
              <a:tr h="552450"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00:10:45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GetSecretValue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Lab RDS credential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</a:tr>
              <a:tr h="552450"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00:14:21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GetSecretValue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Same credential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</a:tr>
              <a:tr h="552450"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00:14:25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ListSecrets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Secret 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54456"/>
                      </a:solidFill>
                      <a:prstDash val="solid"/>
                    </a:lnR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CA83852-C70B-40CA-A5A6-81180C9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E7BA"/>
                </a:solidFill>
                <a:latin typeface="Arial"/>
                <a:ea typeface="Arial"/>
                <a:cs typeface="Arial"/>
              </a:rPr>
              <a:t>Two reads of the same cloud secret.</a:t>
            </a:r>
          </a:p>
        </p:txBody>
      </p: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084D35D0-2556-47DD-BCFF-2C51228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Session-key lookups reveal secret discovery and two reads of the same lab credential, within a three-minute, forty-nine-second window.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6F3DE2-047F-4AE8-B0AE-6736D2B0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1173171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13E2B1-2F28-439E-9D44-21CAC84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Identity Leads to a Pod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33D55FD-F268-4B0E-BC1C-63D9DDA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Match .spec.serviceAccountName to react2shell.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Pod: react2shell-6d4d4db59d-xwtxq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Compare its logs with the CloudTrail sessions.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EF4142A9-C91A-4993-8EDD-9197D5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administrator finds the pod using this service account, then compares its timestamped logs with the AWS activity.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E72DF14-7FA3-4814-AAEC-E911F03D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266655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5B0351-CD96-43F4-97D4-14FEAF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Pod Logs Confirm Secret Exposure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8976AFB-A21B-4542-A3A5-CE2BBA2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F7FA"/>
                </a:solidFill>
                <a:latin typeface="Arial"/>
                <a:ea typeface="Arial"/>
                <a:cs typeface="Arial"/>
              </a:rPr>
              <a:t>Session key matches CloudTrail.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F7FA"/>
                </a:solidFill>
                <a:latin typeface="Arial"/>
                <a:ea typeface="Arial"/>
                <a:cs typeface="Arial"/>
              </a:rPr>
              <a:t>Error digest contains the lab secret value.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250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F7FA"/>
                </a:solidFill>
                <a:latin typeface="Arial"/>
                <a:ea typeface="Arial"/>
                <a:cs typeface="Arial"/>
              </a:rPr>
              <a:t>Timestamps align with GetSecretValue.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9D8DE-8F4A-4546-B3D2-619DEBB8F6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e5a91e9354dca"/>
          <a:stretch xmlns:a="http://schemas.openxmlformats.org/drawingml/2006/main"/>
        </p:blipFill>
        <p:spPr>
          <a:xfrm xmlns:a="http://schemas.openxmlformats.org/drawingml/2006/main">
            <a:off x="5048250" y="1731221"/>
            <a:ext cx="6534150" cy="3681309"/>
          </a:xfrm>
          <a:prstGeom xmlns:a="http://schemas.openxmlformats.org/drawingml/2006/main" prst="rect">
            <a:avLst/>
          </a:prstGeom>
        </p:spPr>
      </p:pic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72453009-186B-49EA-83D2-3D5919A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Matching session keys and timestamps connect the cloud calls to the pod. Its error output also contains the lab secret value.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6C650D-72EF-4339-8869-A35B3B1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805092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46057E-F9F1-4D00-B581-A5293EBD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Supports a Confirmed Breach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B079CB-A746-40D5-83C6-DD4252B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CloudTrail records successful secret access.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Pod logs show the same session and secret output.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Preserve the evidence and begin containment.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4A2E2D3-F54A-405B-BC1B-096111A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CloudTrail and pod logs corroborate the breach. The administrator now limits the pod's access while preserving evidence.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D0F0A1-AE50-4F56-992F-0975CC8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781090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9BCC9C-F74B-46AD-A53E-30BE4875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GitOps Reconciliation Paused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B34B9-EA72-48F8-96DD-98EF4B9C0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57ddb6bfd4b35"/>
          <a:stretch xmlns:a="http://schemas.openxmlformats.org/drawingml/2006/main"/>
        </p:blipFill>
        <p:spPr>
          <a:xfrm xmlns:a="http://schemas.openxmlformats.org/drawingml/2006/main">
            <a:off x="1113026" y="1666875"/>
            <a:ext cx="9965948" cy="2714625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C2B715-BCA0-4CC8-BC30-B47ABA1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4F7FA"/>
                </a:solidFill>
                <a:latin typeface="Arial"/>
                <a:ea typeface="Arial"/>
                <a:cs typeface="Arial"/>
              </a:rPr>
              <a:t>Disable Argo CD auto-sync.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4F7FA"/>
                </a:solidFill>
                <a:latin typeface="Arial"/>
                <a:ea typeface="Arial"/>
                <a:cs typeface="Arial"/>
              </a:rPr>
              <a:t>Check parent and child Applications.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4F7FA"/>
                </a:solidFill>
                <a:latin typeface="Arial"/>
                <a:ea typeface="Arial"/>
                <a:cs typeface="Arial"/>
              </a:rPr>
              <a:t>Keep emergency changes from reverting.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6DDADB25-061D-4513-B908-D24FD94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administrator pauses automatic sync and checks the Application hierarchy so GitOps does not undo the containment changes.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A7B862-F4FC-4943-95E1-820EBA18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922239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C6A532-84B8-4A5B-9C3F-FE120E83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Captured Before Disruption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455F407-F3E6-4782-9162-C9843C2C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Timestamped pod logs.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Pod specification and Kubernetes events.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Decoded token claims for identity correlation.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60E7ACD-EAE2-4E0E-83E2-8C047F53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7E7BA"/>
                </a:solidFill>
                <a:latin typeface="Arial"/>
                <a:ea typeface="Arial"/>
                <a:cs typeface="Arial"/>
              </a:rPr>
              <a:t>Keep the original pod available for investigation.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8309099A-43A0-432F-8B31-1CB20348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administrator saves logs, workload details, events, and token claims before making changes that could disrupt the evidence.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A9E856-BAEC-46FF-A5F1-1953EBE3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94620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F4DD29-C837-4DED-8E29-2279999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Compromised Pod Leaves the Service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8E97E3-6A16-45B7-B636-1C54686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Change its label to app=quarantined.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Service selector no longer matches.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A replacement pod appears in the lab.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BBF8E06C-E56F-4BDB-A57F-4DC4EBA6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Relabeling removes the original pod from the Service's selected backends. The lab shows a replacement while retaining the original pod.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2E4099-E11C-416B-9B37-EED21595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20953079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CEC854-D3E6-4AFC-9642-3BB21BD8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Network Quarantine and Verification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B7AA75F-1EBA-4078-8A08-CED58619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Select app=quarantined with a NetworkPolicy.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Allow no ingress or egress in that policy.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STS egress test times out with exit code 124.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25E54AB8-566A-4E9A-AE32-CAFC829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administrator applies the quarantine policy and tests connectivity. The recorded request to regional STS times out.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AC1A47-ABAB-494D-8061-8851BCAF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7691718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F747C-B10B-4CAA-8779-0929774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Hosting Node Is Cordoned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A3DB45-14E0-4F8C-9867-810FE41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Mark the node unschedulable.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Keep existing pods running.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Add the autoscaler scale-down exclusion.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94EA17-6C93-4C40-8031-50CAC25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7E7BA"/>
                </a:solidFill>
                <a:latin typeface="Arial"/>
                <a:ea typeface="Arial"/>
                <a:cs typeface="Arial"/>
              </a:rPr>
              <a:t>Node status: Ready,SchedulingDisabled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6E8BB370-6464-4312-A9C5-78F416C9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administrator prevents ordinary new scheduling on the hosting node and requests an autoscaler exclusion while investigation continues.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312481-E31A-4ADC-9F8C-D3C99302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6845762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8F5EB-8AF3-4330-BAAC-9D1AB97A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Cloud Credential Cleanup Still Requires Action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45AE6E-A672-498D-B5B5-15267AB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Rotate the disclosed lab credential.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Review and revoke any still-active compromised sessions.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Restrict the workload's IAM access.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6A9930F-2B1B-4C57-84F9-3269413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CA7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CA7A"/>
                </a:solidFill>
                <a:latin typeface="Arial"/>
                <a:ea typeface="Arial"/>
                <a:cs typeface="Arial"/>
              </a:rPr>
              <a:t>Pod quarantine alone does not invalidate copied credentials.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5C59AD40-B027-4A84-B08C-90ACBE0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Quarantining the pod limits that access path. Cloud owners must separately address the disclosed secret and any remaining credential access.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3B9BCC-86E8-43F3-B856-01DE0DE5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2156597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E75690-6208-46F4-A55C-1B976F4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Incident Report and Escalation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E87F549-B8DA-429F-BDCE-AADB23D3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Incident: 2026-1019-01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Severity: High / credential disclosure.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Pod quarantined, evidence captured.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47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475">
                <a:solidFill>
                  <a:srgbClr val="F4F7FA"/>
                </a:solidFill>
                <a:latin typeface="Arial"/>
                <a:ea typeface="Arial"/>
                <a:cs typeface="Arial"/>
              </a:rPr>
              <a:t>Cloud credential cleanup pending.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08FC9EF1-CF9D-48C1-BB1F-97CA1FC7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report separates confirmed findings, completed containment, and pending cloud actions so the next owner can act on the evidence.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0501E4-8A0C-497F-B364-7FC04C12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021497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DB8400-E41B-4EF6-8AB8-47EA4D7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Response Summary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56DF99-25B9-4B55-BF54-0C54545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4F7FA"/>
                </a:solidFill>
                <a:latin typeface="Arial"/>
                <a:ea typeface="Arial"/>
                <a:cs typeface="Arial"/>
              </a:rPr>
              <a:t>CloudTrail identifies the workload and secret access.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4F7FA"/>
                </a:solidFill>
                <a:latin typeface="Arial"/>
                <a:ea typeface="Arial"/>
                <a:cs typeface="Arial"/>
              </a:rPr>
              <a:t>Pod logs connect the activity to the application.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4F7FA"/>
                </a:solidFill>
                <a:latin typeface="Arial"/>
                <a:ea typeface="Arial"/>
                <a:cs typeface="Arial"/>
              </a:rPr>
              <a:t>Evidence collection and quarantine limit further pod access.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325" b="0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F4F7FA"/>
                </a:solidFill>
                <a:latin typeface="Arial"/>
                <a:ea typeface="Arial"/>
                <a:cs typeface="Arial"/>
              </a:rPr>
              <a:t>Credential cleanup remains an explicit handoff.</a:t>
            </a:r>
          </a:p>
        </p:txBody>
      </p:sp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5EAA55F6-DE9C-4C6F-92BB-CC0748C5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The investigation connects cloud activity to the application, preserves evidence, and quarantines the pod. Credential cleanup remains a separate responsibility.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BD89EF-ED4F-4891-97E8-6145BF0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555952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F8234F-9D5C-4D09-9563-6FD581AE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A"/>
                </a:solidFill>
                <a:latin typeface="Arial"/>
                <a:ea typeface="Arial"/>
                <a:cs typeface="Arial"/>
              </a:rPr>
              <a:t>The Pod Is Quarantined. What Comes Next?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265564-FD5C-4B34-ADD9-257A45BB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How do we prevent the next breach?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F72C06C-DCB9-4B96-B369-3DC9F1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A7E7B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A7E7BA"/>
                </a:solidFill>
                <a:latin typeface="Arial"/>
                <a:ea typeface="Arial"/>
                <a:cs typeface="Arial"/>
              </a:rPr>
              <a:t>Next: Defense in Depth on EKS</a:t>
            </a:r>
          </a:p>
        </p:txBody>
      </p:sp>
      <p:sp>
        <p:nvSpPr>
          <p:cNvPr id="4" name="caption">
            <a:extLst xmlns:a="http://schemas.openxmlformats.org/drawingml/2006/main">
              <a:ext uri="{FF2B5EF4-FFF2-40B4-BE49-F238E27FC236}">
                <a16:creationId xmlns:a16="http://schemas.microsoft.com/office/drawing/2014/main" id="{ABDED84C-418B-4EDA-9600-F190A10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Next, we harden the cloud, cluster, container, and code layers, then replay the attack to test the controls.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270955-6B96-4EFB-B098-905B88A4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10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BE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1BECC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04477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2026-10-21T22:02:00.8180000Z</dcterms:created>
  <dcterms:modified xsi:type="dcterms:W3CDTF">2026-10-21T22:02:00.8180000Z</dcterms:modified>
</coreProperties>
</file>